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
  </p:notes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29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76" autoAdjust="0"/>
    <p:restoredTop sz="94660"/>
  </p:normalViewPr>
  <p:slideViewPr>
    <p:cSldViewPr snapToGrid="0">
      <p:cViewPr>
        <p:scale>
          <a:sx n="25" d="100"/>
          <a:sy n="25" d="100"/>
        </p:scale>
        <p:origin x="3235" y="-15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7A064B32-B80B-4D95-8C7F-C787BFBFDE37}" type="datetimeFigureOut">
              <a:rPr lang="en-US" smtClean="0"/>
              <a:t>10/1/2026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C04D58-DF0E-4372-9AEB-71A502D83288}" type="slidenum">
              <a:rPr lang="en-US" smtClean="0"/>
              <a:t>‹#›</a:t>
            </a:fld>
            <a:endParaRPr lang="en-US"/>
          </a:p>
        </p:txBody>
      </p:sp>
    </p:spTree>
    <p:extLst>
      <p:ext uri="{BB962C8B-B14F-4D97-AF65-F5344CB8AC3E}">
        <p14:creationId xmlns:p14="http://schemas.microsoft.com/office/powerpoint/2010/main" val="1025775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38388" y="1143000"/>
            <a:ext cx="2181225"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C04D58-DF0E-4372-9AEB-71A502D83288}" type="slidenum">
              <a:rPr lang="en-US" smtClean="0"/>
              <a:t>1</a:t>
            </a:fld>
            <a:endParaRPr lang="en-US"/>
          </a:p>
        </p:txBody>
      </p:sp>
    </p:spTree>
    <p:extLst>
      <p:ext uri="{BB962C8B-B14F-4D97-AF65-F5344CB8AC3E}">
        <p14:creationId xmlns:p14="http://schemas.microsoft.com/office/powerpoint/2010/main" val="1409649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E40DA69-F415-48FC-B6BF-82F054EFC815}"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6DADC-AAF5-46F0-9B66-44C9E033BDFB}" type="slidenum">
              <a:rPr lang="en-US" smtClean="0"/>
              <a:t>‹#›</a:t>
            </a:fld>
            <a:endParaRPr lang="en-US"/>
          </a:p>
        </p:txBody>
      </p:sp>
    </p:spTree>
    <p:extLst>
      <p:ext uri="{BB962C8B-B14F-4D97-AF65-F5344CB8AC3E}">
        <p14:creationId xmlns:p14="http://schemas.microsoft.com/office/powerpoint/2010/main" val="3480417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40DA69-F415-48FC-B6BF-82F054EFC815}"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6DADC-AAF5-46F0-9B66-44C9E033BDFB}" type="slidenum">
              <a:rPr lang="en-US" smtClean="0"/>
              <a:t>‹#›</a:t>
            </a:fld>
            <a:endParaRPr lang="en-US"/>
          </a:p>
        </p:txBody>
      </p:sp>
    </p:spTree>
    <p:extLst>
      <p:ext uri="{BB962C8B-B14F-4D97-AF65-F5344CB8AC3E}">
        <p14:creationId xmlns:p14="http://schemas.microsoft.com/office/powerpoint/2010/main" val="3911270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40DA69-F415-48FC-B6BF-82F054EFC815}"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6DADC-AAF5-46F0-9B66-44C9E033BDFB}" type="slidenum">
              <a:rPr lang="en-US" smtClean="0"/>
              <a:t>‹#›</a:t>
            </a:fld>
            <a:endParaRPr lang="en-US"/>
          </a:p>
        </p:txBody>
      </p:sp>
    </p:spTree>
    <p:extLst>
      <p:ext uri="{BB962C8B-B14F-4D97-AF65-F5344CB8AC3E}">
        <p14:creationId xmlns:p14="http://schemas.microsoft.com/office/powerpoint/2010/main" val="2744714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40DA69-F415-48FC-B6BF-82F054EFC815}"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56DADC-AAF5-46F0-9B66-44C9E033BDFB}" type="slidenum">
              <a:rPr lang="en-US" smtClean="0"/>
              <a:t>‹#›</a:t>
            </a:fld>
            <a:endParaRPr lang="en-US"/>
          </a:p>
        </p:txBody>
      </p:sp>
    </p:spTree>
    <p:extLst>
      <p:ext uri="{BB962C8B-B14F-4D97-AF65-F5344CB8AC3E}">
        <p14:creationId xmlns:p14="http://schemas.microsoft.com/office/powerpoint/2010/main" val="3515432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40DA69-F415-48FC-B6BF-82F054EFC815}"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56DADC-AAF5-46F0-9B66-44C9E033BDFB}" type="slidenum">
              <a:rPr lang="en-US" smtClean="0"/>
              <a:t>‹#›</a:t>
            </a:fld>
            <a:endParaRPr lang="en-US"/>
          </a:p>
        </p:txBody>
      </p:sp>
    </p:spTree>
    <p:extLst>
      <p:ext uri="{BB962C8B-B14F-4D97-AF65-F5344CB8AC3E}">
        <p14:creationId xmlns:p14="http://schemas.microsoft.com/office/powerpoint/2010/main" val="3265550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E40DA69-F415-48FC-B6BF-82F054EFC815}"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56DADC-AAF5-46F0-9B66-44C9E033BDFB}" type="slidenum">
              <a:rPr lang="en-US" smtClean="0"/>
              <a:t>‹#›</a:t>
            </a:fld>
            <a:endParaRPr lang="en-US"/>
          </a:p>
        </p:txBody>
      </p:sp>
    </p:spTree>
    <p:extLst>
      <p:ext uri="{BB962C8B-B14F-4D97-AF65-F5344CB8AC3E}">
        <p14:creationId xmlns:p14="http://schemas.microsoft.com/office/powerpoint/2010/main" val="843138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40DA69-F415-48FC-B6BF-82F054EFC815}"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A56DADC-AAF5-46F0-9B66-44C9E033BDFB}" type="slidenum">
              <a:rPr lang="en-US" smtClean="0"/>
              <a:t>‹#›</a:t>
            </a:fld>
            <a:endParaRPr lang="en-US"/>
          </a:p>
        </p:txBody>
      </p:sp>
    </p:spTree>
    <p:extLst>
      <p:ext uri="{BB962C8B-B14F-4D97-AF65-F5344CB8AC3E}">
        <p14:creationId xmlns:p14="http://schemas.microsoft.com/office/powerpoint/2010/main" val="834183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AE40DA69-F415-48FC-B6BF-82F054EFC815}"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56DADC-AAF5-46F0-9B66-44C9E033BDFB}" type="slidenum">
              <a:rPr lang="en-US" smtClean="0"/>
              <a:t>‹#›</a:t>
            </a:fld>
            <a:endParaRPr lang="en-US"/>
          </a:p>
        </p:txBody>
      </p:sp>
    </p:spTree>
    <p:extLst>
      <p:ext uri="{BB962C8B-B14F-4D97-AF65-F5344CB8AC3E}">
        <p14:creationId xmlns:p14="http://schemas.microsoft.com/office/powerpoint/2010/main" val="774368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AE40DA69-F415-48FC-B6BF-82F054EFC815}"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56DADC-AAF5-46F0-9B66-44C9E033BDFB}" type="slidenum">
              <a:rPr lang="en-US" smtClean="0"/>
              <a:t>‹#›</a:t>
            </a:fld>
            <a:endParaRPr lang="en-US"/>
          </a:p>
        </p:txBody>
      </p:sp>
    </p:spTree>
    <p:extLst>
      <p:ext uri="{BB962C8B-B14F-4D97-AF65-F5344CB8AC3E}">
        <p14:creationId xmlns:p14="http://schemas.microsoft.com/office/powerpoint/2010/main" val="1873015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40DA69-F415-48FC-B6BF-82F054EFC815}"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6DADC-AAF5-46F0-9B66-44C9E033BDFB}" type="slidenum">
              <a:rPr lang="en-US" smtClean="0"/>
              <a:t>‹#›</a:t>
            </a:fld>
            <a:endParaRPr lang="en-US"/>
          </a:p>
        </p:txBody>
      </p:sp>
    </p:spTree>
    <p:extLst>
      <p:ext uri="{BB962C8B-B14F-4D97-AF65-F5344CB8AC3E}">
        <p14:creationId xmlns:p14="http://schemas.microsoft.com/office/powerpoint/2010/main" val="3165539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40DA69-F415-48FC-B6BF-82F054EFC815}"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6DADC-AAF5-46F0-9B66-44C9E033BDFB}" type="slidenum">
              <a:rPr lang="en-US" smtClean="0"/>
              <a:t>‹#›</a:t>
            </a:fld>
            <a:endParaRPr lang="en-US"/>
          </a:p>
        </p:txBody>
      </p:sp>
    </p:spTree>
    <p:extLst>
      <p:ext uri="{BB962C8B-B14F-4D97-AF65-F5344CB8AC3E}">
        <p14:creationId xmlns:p14="http://schemas.microsoft.com/office/powerpoint/2010/main" val="3615875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82000"/>
                  </a:schemeClr>
                </a:solidFill>
              </a:defRPr>
            </a:lvl1pPr>
          </a:lstStyle>
          <a:p>
            <a:fld id="{AE40DA69-F415-48FC-B6BF-82F054EFC815}" type="datetimeFigureOut">
              <a:rPr lang="en-US" smtClean="0"/>
              <a:t>10/1/2026</a:t>
            </a:fld>
            <a:endParaRPr lang="en-US"/>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82000"/>
                  </a:schemeClr>
                </a:solidFill>
              </a:defRPr>
            </a:lvl1pPr>
          </a:lstStyle>
          <a:p>
            <a:fld id="{CA56DADC-AAF5-46F0-9B66-44C9E033BDFB}" type="slidenum">
              <a:rPr lang="en-US" smtClean="0"/>
              <a:t>‹#›</a:t>
            </a:fld>
            <a:endParaRPr lang="en-US"/>
          </a:p>
        </p:txBody>
      </p:sp>
    </p:spTree>
    <p:extLst>
      <p:ext uri="{BB962C8B-B14F-4D97-AF65-F5344CB8AC3E}">
        <p14:creationId xmlns:p14="http://schemas.microsoft.com/office/powerpoint/2010/main" val="422996438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png"/><Relationship Id="rId3" Type="http://schemas.openxmlformats.org/officeDocument/2006/relationships/image" Target="../media/image1.jpeg"/><Relationship Id="rId7" Type="http://schemas.openxmlformats.org/officeDocument/2006/relationships/hyperlink" Target="https://arxiv.org/abs/1706.03459v6" TargetMode="External"/><Relationship Id="rId12"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arxiv.org/abs/2203.01862" TargetMode="External"/><Relationship Id="rId11" Type="http://schemas.openxmlformats.org/officeDocument/2006/relationships/image" Target="../media/image6.png"/><Relationship Id="rId5" Type="http://schemas.openxmlformats.org/officeDocument/2006/relationships/hyperlink" Target="https://arxiv.org/abs/1805.03382v2" TargetMode="External"/><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4.png"/><Relationship Id="rId1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A8C0109-BC7F-4522-FDE2-4B3CFFDC219E}"/>
              </a:ext>
            </a:extLst>
          </p:cNvPr>
          <p:cNvSpPr/>
          <p:nvPr/>
        </p:nvSpPr>
        <p:spPr>
          <a:xfrm>
            <a:off x="702798" y="13028089"/>
            <a:ext cx="8557420" cy="872175"/>
          </a:xfrm>
          <a:prstGeom prst="rect">
            <a:avLst/>
          </a:prstGeom>
          <a:solidFill>
            <a:srgbClr val="2B29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38" b="1" dirty="0">
                <a:solidFill>
                  <a:schemeClr val="bg1"/>
                </a:solidFill>
              </a:rPr>
              <a:t>Implementation</a:t>
            </a:r>
          </a:p>
        </p:txBody>
      </p:sp>
      <p:pic>
        <p:nvPicPr>
          <p:cNvPr id="7" name="Picture 8" descr="Announcement: The official English name of the university will be changed to The University of Osaka">
            <a:extLst>
              <a:ext uri="{FF2B5EF4-FFF2-40B4-BE49-F238E27FC236}">
                <a16:creationId xmlns:a16="http://schemas.microsoft.com/office/drawing/2014/main" id="{8C1DB4F7-BD3E-05FD-2315-5E07D57AE8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909" t="2062" r="20560" b="72279"/>
          <a:stretch>
            <a:fillRect/>
          </a:stretch>
        </p:blipFill>
        <p:spPr bwMode="auto">
          <a:xfrm>
            <a:off x="0" y="0"/>
            <a:ext cx="30275213" cy="5137118"/>
          </a:xfrm>
          <a:prstGeom prst="rect">
            <a:avLst/>
          </a:prstGeom>
          <a:solidFill>
            <a:srgbClr val="2B296A"/>
          </a:solidFill>
        </p:spPr>
      </p:pic>
      <p:pic>
        <p:nvPicPr>
          <p:cNvPr id="8" name="Picture 6" descr="Announcement: The official English name of the university will be changed to The University of Osaka">
            <a:extLst>
              <a:ext uri="{FF2B5EF4-FFF2-40B4-BE49-F238E27FC236}">
                <a16:creationId xmlns:a16="http://schemas.microsoft.com/office/drawing/2014/main" id="{1947E7A9-A732-DD48-E9F2-EE6E0431DB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580" t="24368" r="4374" b="44736"/>
          <a:stretch>
            <a:fillRect/>
          </a:stretch>
        </p:blipFill>
        <p:spPr bwMode="auto">
          <a:xfrm>
            <a:off x="25143898" y="262968"/>
            <a:ext cx="4934958" cy="154012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0FC6461-33E4-B7DC-5E16-2E09BDF07349}"/>
              </a:ext>
            </a:extLst>
          </p:cNvPr>
          <p:cNvSpPr txBox="1"/>
          <p:nvPr/>
        </p:nvSpPr>
        <p:spPr>
          <a:xfrm>
            <a:off x="885490" y="743454"/>
            <a:ext cx="14982578" cy="3710888"/>
          </a:xfrm>
          <a:prstGeom prst="rect">
            <a:avLst/>
          </a:prstGeom>
          <a:noFill/>
        </p:spPr>
        <p:txBody>
          <a:bodyPr wrap="square" rtlCol="0">
            <a:spAutoFit/>
          </a:bodyPr>
          <a:lstStyle/>
          <a:p>
            <a:r>
              <a:rPr lang="en-US" sz="11757" b="1" dirty="0">
                <a:solidFill>
                  <a:schemeClr val="bg1"/>
                </a:solidFill>
                <a:latin typeface="+mj-lt"/>
                <a:ea typeface="Sans Serif Collection" panose="020B0502040504020204" pitchFamily="34" charset="0"/>
                <a:cs typeface="Sans Serif Collection" panose="020B0502040504020204" pitchFamily="34" charset="0"/>
              </a:rPr>
              <a:t>Evaluating LLM Agents </a:t>
            </a:r>
          </a:p>
          <a:p>
            <a:r>
              <a:rPr lang="en-US" sz="11757" b="1" dirty="0">
                <a:solidFill>
                  <a:schemeClr val="bg1"/>
                </a:solidFill>
                <a:latin typeface="+mj-lt"/>
                <a:ea typeface="Sans Serif Collection" panose="020B0502040504020204" pitchFamily="34" charset="0"/>
                <a:cs typeface="Sans Serif Collection" panose="020B0502040504020204" pitchFamily="34" charset="0"/>
              </a:rPr>
              <a:t>In Black Box Auctions</a:t>
            </a:r>
          </a:p>
        </p:txBody>
      </p:sp>
      <p:pic>
        <p:nvPicPr>
          <p:cNvPr id="13" name="Picture 12">
            <a:extLst>
              <a:ext uri="{FF2B5EF4-FFF2-40B4-BE49-F238E27FC236}">
                <a16:creationId xmlns:a16="http://schemas.microsoft.com/office/drawing/2014/main" id="{A1B27476-96D5-BF31-B135-E0C25210E2B1}"/>
              </a:ext>
            </a:extLst>
          </p:cNvPr>
          <p:cNvPicPr>
            <a:picLocks noChangeAspect="1"/>
          </p:cNvPicPr>
          <p:nvPr/>
        </p:nvPicPr>
        <p:blipFill>
          <a:blip r:embed="rId4">
            <a:alphaModFix/>
          </a:blip>
          <a:srcRect l="4153" t="8242" r="13365"/>
          <a:stretch>
            <a:fillRect/>
          </a:stretch>
        </p:blipFill>
        <p:spPr>
          <a:xfrm>
            <a:off x="21590949" y="6178298"/>
            <a:ext cx="7949407" cy="5903256"/>
          </a:xfrm>
          <a:prstGeom prst="rect">
            <a:avLst/>
          </a:prstGeom>
          <a:ln w="28575">
            <a:solidFill>
              <a:schemeClr val="bg2">
                <a:lumMod val="75000"/>
              </a:schemeClr>
            </a:solidFill>
          </a:ln>
        </p:spPr>
      </p:pic>
      <p:sp>
        <p:nvSpPr>
          <p:cNvPr id="27" name="Rectangle 26">
            <a:extLst>
              <a:ext uri="{FF2B5EF4-FFF2-40B4-BE49-F238E27FC236}">
                <a16:creationId xmlns:a16="http://schemas.microsoft.com/office/drawing/2014/main" id="{64E02F08-D040-AE8A-3DA9-2CD788B26650}"/>
              </a:ext>
            </a:extLst>
          </p:cNvPr>
          <p:cNvSpPr/>
          <p:nvPr/>
        </p:nvSpPr>
        <p:spPr>
          <a:xfrm>
            <a:off x="10413930" y="12968399"/>
            <a:ext cx="8557420" cy="872175"/>
          </a:xfrm>
          <a:prstGeom prst="rect">
            <a:avLst/>
          </a:prstGeom>
          <a:solidFill>
            <a:srgbClr val="2B29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38" b="1" dirty="0">
                <a:solidFill>
                  <a:schemeClr val="bg1"/>
                </a:solidFill>
              </a:rPr>
              <a:t>Figures</a:t>
            </a:r>
          </a:p>
        </p:txBody>
      </p:sp>
      <p:sp>
        <p:nvSpPr>
          <p:cNvPr id="28" name="TextBox 27">
            <a:extLst>
              <a:ext uri="{FF2B5EF4-FFF2-40B4-BE49-F238E27FC236}">
                <a16:creationId xmlns:a16="http://schemas.microsoft.com/office/drawing/2014/main" id="{F8729EFA-02CA-7AB2-0D5A-1BF50F8D44D8}"/>
              </a:ext>
            </a:extLst>
          </p:cNvPr>
          <p:cNvSpPr txBox="1"/>
          <p:nvPr/>
        </p:nvSpPr>
        <p:spPr>
          <a:xfrm>
            <a:off x="10449391" y="5869903"/>
            <a:ext cx="10670025" cy="6424579"/>
          </a:xfrm>
          <a:prstGeom prst="rect">
            <a:avLst/>
          </a:prstGeom>
          <a:noFill/>
        </p:spPr>
        <p:txBody>
          <a:bodyPr wrap="square" rtlCol="0">
            <a:spAutoFit/>
          </a:bodyPr>
          <a:lstStyle/>
          <a:p>
            <a:r>
              <a:rPr lang="en-US" sz="2939" b="1" dirty="0"/>
              <a:t>MenuNet Mechanism</a:t>
            </a:r>
          </a:p>
          <a:p>
            <a:pPr marL="479905" indent="-479905">
              <a:buFont typeface="Arial" panose="020B0604020202020204" pitchFamily="34" charset="0"/>
              <a:buChar char="•"/>
            </a:pPr>
            <a:r>
              <a:rPr lang="en-US" sz="2939" dirty="0"/>
              <a:t>MenuNet is a neural network auction that consists of MechNet and BuyerNet. It takes an input of bids and outputs a singular menu option, a set containing an allocation and a payment. </a:t>
            </a:r>
          </a:p>
          <a:p>
            <a:pPr marL="479905" indent="-479905">
              <a:buFont typeface="Arial" panose="020B0604020202020204" pitchFamily="34" charset="0"/>
              <a:buChar char="•"/>
            </a:pPr>
            <a:r>
              <a:rPr lang="en-US" sz="2939" dirty="0"/>
              <a:t>Achieves incentive compatibility, in which the truthful bid is always the best bid to make.</a:t>
            </a:r>
          </a:p>
          <a:p>
            <a:pPr marL="479905" indent="-479905">
              <a:buFont typeface="Arial" panose="020B0604020202020204" pitchFamily="34" charset="0"/>
              <a:buChar char="•"/>
            </a:pPr>
            <a:r>
              <a:rPr lang="en-US" sz="2939" dirty="0"/>
              <a:t>MechNet, initializes an allocation matrix, X, and payment vector, </a:t>
            </a:r>
            <a:r>
              <a:rPr lang="en-US" sz="2939" b="1" dirty="0"/>
              <a:t>p</a:t>
            </a:r>
            <a:r>
              <a:rPr lang="en-US" sz="2939" dirty="0"/>
              <a:t>, and sets their values as learning parameters.</a:t>
            </a:r>
          </a:p>
          <a:p>
            <a:pPr marL="479905" indent="-479905">
              <a:buFont typeface="Arial" panose="020B0604020202020204" pitchFamily="34" charset="0"/>
              <a:buChar char="•"/>
            </a:pPr>
            <a:r>
              <a:rPr lang="en-US" sz="2939" dirty="0"/>
              <a:t>BuyerNet, inputs X and outputs a distribution representing the likelihood that certain valuation pairs are chosen; applies SoftMax over utility of all possible valuable </a:t>
            </a:r>
          </a:p>
          <a:p>
            <a:r>
              <a:rPr lang="en-US" sz="2939" b="1" dirty="0"/>
              <a:t>Training Design: </a:t>
            </a:r>
            <a:r>
              <a:rPr lang="en-US" sz="2939" dirty="0"/>
              <a:t>Item Domains: [0,1] x [0,2]. 100 discretization, 2 items, 3 menu options, 5000 steps. Trained by optimizing loss function (negative of expected revenue)</a:t>
            </a:r>
          </a:p>
        </p:txBody>
      </p:sp>
      <p:sp>
        <p:nvSpPr>
          <p:cNvPr id="38" name="Rectangle 37">
            <a:extLst>
              <a:ext uri="{FF2B5EF4-FFF2-40B4-BE49-F238E27FC236}">
                <a16:creationId xmlns:a16="http://schemas.microsoft.com/office/drawing/2014/main" id="{FFC20004-0753-CE5A-DF90-CF7B955F37F6}"/>
              </a:ext>
            </a:extLst>
          </p:cNvPr>
          <p:cNvSpPr/>
          <p:nvPr/>
        </p:nvSpPr>
        <p:spPr>
          <a:xfrm>
            <a:off x="666045" y="5869906"/>
            <a:ext cx="8557420" cy="872175"/>
          </a:xfrm>
          <a:prstGeom prst="rect">
            <a:avLst/>
          </a:prstGeom>
          <a:solidFill>
            <a:srgbClr val="2B29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38" b="1" dirty="0">
                <a:solidFill>
                  <a:schemeClr val="bg1"/>
                </a:solidFill>
              </a:rPr>
              <a:t>Background</a:t>
            </a:r>
          </a:p>
        </p:txBody>
      </p:sp>
      <p:sp>
        <p:nvSpPr>
          <p:cNvPr id="40" name="Rectangle 39">
            <a:extLst>
              <a:ext uri="{FF2B5EF4-FFF2-40B4-BE49-F238E27FC236}">
                <a16:creationId xmlns:a16="http://schemas.microsoft.com/office/drawing/2014/main" id="{733D24EA-8445-96D8-0061-721A1A8BBAEC}"/>
              </a:ext>
            </a:extLst>
          </p:cNvPr>
          <p:cNvSpPr/>
          <p:nvPr/>
        </p:nvSpPr>
        <p:spPr>
          <a:xfrm>
            <a:off x="662774" y="38960346"/>
            <a:ext cx="8557420" cy="872175"/>
          </a:xfrm>
          <a:prstGeom prst="rect">
            <a:avLst/>
          </a:prstGeom>
          <a:solidFill>
            <a:srgbClr val="2B29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38" b="1" dirty="0">
                <a:solidFill>
                  <a:schemeClr val="bg1"/>
                </a:solidFill>
              </a:rPr>
              <a:t>References</a:t>
            </a:r>
          </a:p>
        </p:txBody>
      </p:sp>
      <p:sp>
        <p:nvSpPr>
          <p:cNvPr id="42" name="TextBox 41">
            <a:extLst>
              <a:ext uri="{FF2B5EF4-FFF2-40B4-BE49-F238E27FC236}">
                <a16:creationId xmlns:a16="http://schemas.microsoft.com/office/drawing/2014/main" id="{0612D536-60E6-3DC1-2984-013681CD7611}"/>
              </a:ext>
            </a:extLst>
          </p:cNvPr>
          <p:cNvSpPr txBox="1"/>
          <p:nvPr/>
        </p:nvSpPr>
        <p:spPr>
          <a:xfrm>
            <a:off x="641835" y="6991671"/>
            <a:ext cx="8557419" cy="4615366"/>
          </a:xfrm>
          <a:prstGeom prst="rect">
            <a:avLst/>
          </a:prstGeom>
          <a:noFill/>
        </p:spPr>
        <p:txBody>
          <a:bodyPr wrap="square" rtlCol="0">
            <a:spAutoFit/>
          </a:bodyPr>
          <a:lstStyle/>
          <a:p>
            <a:r>
              <a:rPr lang="en-US" sz="2939" dirty="0"/>
              <a:t>With the recent development of large language models (LLMs), it has become possible to utilize them as bidders to automate auctions. In this study, we evaluate the bidding capabilities of LLM agents in neural network auctions. Previous research has analyzed the performance of LLM agents in other neural network mechanisms such as RegretNet. We aim to expand upon these by analyzing LLM agents’ performances in MenuNet auctions. </a:t>
            </a:r>
          </a:p>
          <a:p>
            <a:endParaRPr lang="en-US" sz="2939" dirty="0"/>
          </a:p>
        </p:txBody>
      </p:sp>
      <p:sp>
        <p:nvSpPr>
          <p:cNvPr id="46" name="TextBox 45">
            <a:extLst>
              <a:ext uri="{FF2B5EF4-FFF2-40B4-BE49-F238E27FC236}">
                <a16:creationId xmlns:a16="http://schemas.microsoft.com/office/drawing/2014/main" id="{A70ED1FD-A9F0-E7F1-64E2-99F2CBF5B0F2}"/>
              </a:ext>
            </a:extLst>
          </p:cNvPr>
          <p:cNvSpPr txBox="1"/>
          <p:nvPr/>
        </p:nvSpPr>
        <p:spPr>
          <a:xfrm>
            <a:off x="742822" y="30569958"/>
            <a:ext cx="8557420" cy="8233792"/>
          </a:xfrm>
          <a:prstGeom prst="rect">
            <a:avLst/>
          </a:prstGeom>
          <a:noFill/>
        </p:spPr>
        <p:txBody>
          <a:bodyPr wrap="square" rtlCol="0">
            <a:spAutoFit/>
          </a:bodyPr>
          <a:lstStyle/>
          <a:p>
            <a:r>
              <a:rPr lang="en-US" sz="2939" b="1" dirty="0"/>
              <a:t>Across All Settings:</a:t>
            </a:r>
            <a:endParaRPr lang="en-US" sz="2939" dirty="0"/>
          </a:p>
          <a:p>
            <a:pPr marL="479905" indent="-479905">
              <a:buFont typeface="Arial" panose="020B0604020202020204" pitchFamily="34" charset="0"/>
              <a:buChar char="•"/>
            </a:pPr>
            <a:r>
              <a:rPr lang="en-US" sz="2939" dirty="0"/>
              <a:t>The LLM agent performs extremely well for auctions without history; 0 Regret and nearly completely truthful</a:t>
            </a:r>
          </a:p>
          <a:p>
            <a:pPr marL="479905" indent="-479905">
              <a:buFont typeface="Arial" panose="020B0604020202020204" pitchFamily="34" charset="0"/>
              <a:buChar char="•"/>
            </a:pPr>
            <a:r>
              <a:rPr lang="en-US" sz="2939" dirty="0"/>
              <a:t>This has limited use cases, as in real world setting, people will remember their previous bids or other people’s bids</a:t>
            </a:r>
          </a:p>
          <a:p>
            <a:pPr marL="479905" indent="-479905">
              <a:buFont typeface="Arial" panose="020B0604020202020204" pitchFamily="34" charset="0"/>
              <a:buChar char="•"/>
            </a:pPr>
            <a:r>
              <a:rPr lang="en-US" sz="2939" dirty="0"/>
              <a:t>The Rule setting does not have as large as an impact compared to other parameters, but does slightly improve LLM agent performance</a:t>
            </a:r>
          </a:p>
          <a:p>
            <a:r>
              <a:rPr lang="en-US" sz="2939" b="1" dirty="0"/>
              <a:t>Conclusion:</a:t>
            </a:r>
          </a:p>
          <a:p>
            <a:r>
              <a:rPr lang="en-US" sz="2939" dirty="0"/>
              <a:t>Higher reasoning LLM agents tend to perform better in auctions with history, with 5.2-mini “medium” using Prompt 2 being the best performer. Agents demonstrate complex thinking capabilities, but we observe higher reasoning models purposefully being untruthful to guarantee their best menu option, which has its own nuance.</a:t>
            </a:r>
          </a:p>
        </p:txBody>
      </p:sp>
      <p:sp>
        <p:nvSpPr>
          <p:cNvPr id="1035" name="TextBox 1034">
            <a:extLst>
              <a:ext uri="{FF2B5EF4-FFF2-40B4-BE49-F238E27FC236}">
                <a16:creationId xmlns:a16="http://schemas.microsoft.com/office/drawing/2014/main" id="{BF150DB1-3E3D-B1DC-4544-8134B3B0828E}"/>
              </a:ext>
            </a:extLst>
          </p:cNvPr>
          <p:cNvSpPr txBox="1"/>
          <p:nvPr/>
        </p:nvSpPr>
        <p:spPr>
          <a:xfrm>
            <a:off x="10413931" y="38916533"/>
            <a:ext cx="18914824" cy="3258456"/>
          </a:xfrm>
          <a:prstGeom prst="rect">
            <a:avLst/>
          </a:prstGeom>
          <a:noFill/>
        </p:spPr>
        <p:txBody>
          <a:bodyPr wrap="square" rtlCol="0">
            <a:spAutoFit/>
          </a:bodyPr>
          <a:lstStyle/>
          <a:p>
            <a:r>
              <a:rPr lang="en-US" sz="2939" b="1" dirty="0"/>
              <a:t>Future Research:</a:t>
            </a:r>
          </a:p>
          <a:p>
            <a:pPr marL="479905" indent="-479905">
              <a:buFont typeface="Arial" panose="020B0604020202020204" pitchFamily="34" charset="0"/>
              <a:buChar char="•"/>
            </a:pPr>
            <a:r>
              <a:rPr lang="en-US" sz="2939" dirty="0"/>
              <a:t>Expand testing for GPT-5.2; testing as to why it performs worse than GPT-5-mini.</a:t>
            </a:r>
          </a:p>
          <a:p>
            <a:pPr marL="479905" indent="-479905">
              <a:buFont typeface="Arial" panose="020B0604020202020204" pitchFamily="34" charset="0"/>
              <a:buChar char="•"/>
            </a:pPr>
            <a:r>
              <a:rPr lang="en-US" sz="2939" dirty="0"/>
              <a:t>Compare different prompts for the LLM; more detailed prompts may lead to different performances, especially by none reasoning models or much higher reasoning models.</a:t>
            </a:r>
          </a:p>
          <a:p>
            <a:pPr marL="479905" indent="-479905">
              <a:buFont typeface="Arial" panose="020B0604020202020204" pitchFamily="34" charset="0"/>
              <a:buChar char="•"/>
            </a:pPr>
            <a:r>
              <a:rPr lang="en-US" sz="2939" dirty="0"/>
              <a:t>Evaluating LLM agents in auctions with different items every round; the valuation domain would change every round. This requires training for other valuation domains.</a:t>
            </a:r>
          </a:p>
          <a:p>
            <a:pPr marL="479905" indent="-479905">
              <a:buFont typeface="Arial" panose="020B0604020202020204" pitchFamily="34" charset="0"/>
              <a:buChar char="•"/>
            </a:pPr>
            <a:r>
              <a:rPr lang="en-US" sz="2939" dirty="0"/>
              <a:t>Expand auctions into much larger scales; utilizing 10+ items and 5+ menu options.</a:t>
            </a:r>
          </a:p>
        </p:txBody>
      </p:sp>
      <p:sp>
        <p:nvSpPr>
          <p:cNvPr id="1042" name="TextBox 1041">
            <a:extLst>
              <a:ext uri="{FF2B5EF4-FFF2-40B4-BE49-F238E27FC236}">
                <a16:creationId xmlns:a16="http://schemas.microsoft.com/office/drawing/2014/main" id="{6976373A-9C28-BDC6-AC84-0F1BBFFA196C}"/>
              </a:ext>
            </a:extLst>
          </p:cNvPr>
          <p:cNvSpPr txBox="1"/>
          <p:nvPr/>
        </p:nvSpPr>
        <p:spPr>
          <a:xfrm>
            <a:off x="662774" y="39961984"/>
            <a:ext cx="8557420" cy="2418098"/>
          </a:xfrm>
          <a:prstGeom prst="rect">
            <a:avLst/>
          </a:prstGeom>
          <a:noFill/>
        </p:spPr>
        <p:txBody>
          <a:bodyPr wrap="square" rtlCol="0">
            <a:spAutoFit/>
          </a:bodyPr>
          <a:lstStyle/>
          <a:p>
            <a:r>
              <a:rPr lang="en-US" sz="1889" dirty="0"/>
              <a:t>[1] Shen, W., &amp; Tang P., &amp; Zuo S. (2021). </a:t>
            </a:r>
            <a:r>
              <a:rPr lang="en-US" sz="1889" i="1" dirty="0"/>
              <a:t>Automated Mechanism Design via Neural Networks.</a:t>
            </a:r>
            <a:r>
              <a:rPr lang="en-US" sz="1889" dirty="0"/>
              <a:t> arXiv. </a:t>
            </a:r>
            <a:r>
              <a:rPr lang="en-US" sz="1889" dirty="0">
                <a:hlinkClick r:id="rId5"/>
              </a:rPr>
              <a:t>https://arxiv.org/abs/1805.03382v2</a:t>
            </a:r>
            <a:r>
              <a:rPr lang="en-US" sz="1889" dirty="0"/>
              <a:t>.</a:t>
            </a:r>
          </a:p>
          <a:p>
            <a:r>
              <a:rPr lang="en-US" sz="1889" dirty="0"/>
              <a:t>[2] Anon. (2024). </a:t>
            </a:r>
            <a:r>
              <a:rPr lang="en-US" sz="1889" i="1" dirty="0"/>
              <a:t>Evaluating LLM Agents in Black Box Auctions</a:t>
            </a:r>
            <a:r>
              <a:rPr lang="en-US" sz="1889" dirty="0"/>
              <a:t>. arXiv. </a:t>
            </a:r>
            <a:r>
              <a:rPr lang="en-US" sz="1889" dirty="0">
                <a:hlinkClick r:id="rId6"/>
              </a:rPr>
              <a:t>https://arxiv.org/abs/2203.01862</a:t>
            </a:r>
            <a:r>
              <a:rPr lang="en-US" sz="1889" dirty="0"/>
              <a:t>.</a:t>
            </a:r>
          </a:p>
          <a:p>
            <a:r>
              <a:rPr lang="en-US" sz="1889" dirty="0"/>
              <a:t>[3] </a:t>
            </a:r>
            <a:r>
              <a:rPr lang="en-US" sz="1889" dirty="0" err="1"/>
              <a:t>Dütting</a:t>
            </a:r>
            <a:r>
              <a:rPr lang="en-US" sz="1889" dirty="0"/>
              <a:t>, P., Feng, Z., Narasimhan, H., Parkes, D. C., Jones, L., Ravindranath, S. S. (2022). </a:t>
            </a:r>
            <a:r>
              <a:rPr lang="en-US" sz="1889" i="1" dirty="0"/>
              <a:t>Optimal Auctions through Deep Learning: Advances in Differentiable Economics</a:t>
            </a:r>
            <a:r>
              <a:rPr lang="en-US" sz="1889" dirty="0"/>
              <a:t>. arXiv. </a:t>
            </a:r>
            <a:r>
              <a:rPr lang="en-US" sz="1889" dirty="0">
                <a:hlinkClick r:id="rId7"/>
              </a:rPr>
              <a:t>https://arxiv.org/abs/1706.03459v6</a:t>
            </a:r>
            <a:r>
              <a:rPr lang="en-US" sz="1889" dirty="0"/>
              <a:t>.</a:t>
            </a:r>
          </a:p>
          <a:p>
            <a:endParaRPr lang="en-US" sz="1889" dirty="0"/>
          </a:p>
        </p:txBody>
      </p:sp>
      <p:sp>
        <p:nvSpPr>
          <p:cNvPr id="2" name="TextBox 1">
            <a:extLst>
              <a:ext uri="{FF2B5EF4-FFF2-40B4-BE49-F238E27FC236}">
                <a16:creationId xmlns:a16="http://schemas.microsoft.com/office/drawing/2014/main" id="{7E69DCF1-DA59-DF34-76DE-37602F1CBB3E}"/>
              </a:ext>
            </a:extLst>
          </p:cNvPr>
          <p:cNvSpPr txBox="1"/>
          <p:nvPr/>
        </p:nvSpPr>
        <p:spPr>
          <a:xfrm>
            <a:off x="662775" y="14364233"/>
            <a:ext cx="8597444" cy="11852219"/>
          </a:xfrm>
          <a:prstGeom prst="rect">
            <a:avLst/>
          </a:prstGeom>
          <a:noFill/>
        </p:spPr>
        <p:txBody>
          <a:bodyPr wrap="square" rtlCol="0">
            <a:spAutoFit/>
          </a:bodyPr>
          <a:lstStyle/>
          <a:p>
            <a:r>
              <a:rPr lang="en-US" sz="2939" b="1" dirty="0"/>
              <a:t>Auction Design:</a:t>
            </a:r>
          </a:p>
          <a:p>
            <a:pPr marL="539894" indent="-539894">
              <a:buFont typeface="Arial" panose="020B0604020202020204" pitchFamily="34" charset="0"/>
              <a:buChar char="•"/>
            </a:pPr>
            <a:r>
              <a:rPr lang="en-US" sz="2939" dirty="0"/>
              <a:t>Domains: [0,1] x [0,2] </a:t>
            </a:r>
          </a:p>
          <a:p>
            <a:pPr marL="539894" indent="-539894">
              <a:buFont typeface="Arial" panose="020B0604020202020204" pitchFamily="34" charset="0"/>
              <a:buChar char="•"/>
            </a:pPr>
            <a:r>
              <a:rPr lang="en-US" sz="2939" dirty="0"/>
              <a:t>Single Bidder, Two Items, Three Menu Options</a:t>
            </a:r>
          </a:p>
          <a:p>
            <a:pPr marL="539894" indent="-539894">
              <a:buFont typeface="Arial" panose="020B0604020202020204" pitchFamily="34" charset="0"/>
              <a:buChar char="•"/>
            </a:pPr>
            <a:r>
              <a:rPr lang="en-US" sz="2939" dirty="0"/>
              <a:t>30 rounds, 30+ runs (For GPT-5-mini)</a:t>
            </a:r>
          </a:p>
          <a:p>
            <a:r>
              <a:rPr lang="en-US" sz="2939" b="1" dirty="0"/>
              <a:t>Parameters:</a:t>
            </a:r>
          </a:p>
          <a:p>
            <a:pPr marL="479905" indent="-479905">
              <a:buFont typeface="Arial" panose="020B0604020202020204" pitchFamily="34" charset="0"/>
              <a:buChar char="•"/>
            </a:pPr>
            <a:r>
              <a:rPr lang="en-US" sz="2939" dirty="0"/>
              <a:t>Rule: Will the LLM know how MenuNet was trained</a:t>
            </a:r>
          </a:p>
          <a:p>
            <a:pPr marL="479905" indent="-479905">
              <a:buFont typeface="Arial" panose="020B0604020202020204" pitchFamily="34" charset="0"/>
              <a:buChar char="•"/>
            </a:pPr>
            <a:r>
              <a:rPr lang="en-US" sz="2939" dirty="0"/>
              <a:t>History: Will the LLM be able to see the previous bids, menu options, and the selected option</a:t>
            </a:r>
          </a:p>
          <a:p>
            <a:pPr marL="479905" indent="-479905">
              <a:buFont typeface="Arial" panose="020B0604020202020204" pitchFamily="34" charset="0"/>
              <a:buChar char="•"/>
            </a:pPr>
            <a:r>
              <a:rPr lang="en-US" sz="2939" dirty="0"/>
              <a:t>Same Bidder: Same bidder auctions will keep the internal valuation across rounds; different bidder auctions will change valuations every round.</a:t>
            </a:r>
          </a:p>
          <a:p>
            <a:pPr marL="479905" indent="-479905">
              <a:buFont typeface="Arial" panose="020B0604020202020204" pitchFamily="34" charset="0"/>
              <a:buChar char="•"/>
            </a:pPr>
            <a:r>
              <a:rPr lang="en-US" sz="2939" dirty="0"/>
              <a:t>Model: GPT-5-mini, GPT-5.2, GPT-4o</a:t>
            </a:r>
          </a:p>
          <a:p>
            <a:pPr marL="479905" indent="-479905">
              <a:buFont typeface="Arial" panose="020B0604020202020204" pitchFamily="34" charset="0"/>
              <a:buChar char="•"/>
            </a:pPr>
            <a:r>
              <a:rPr lang="en-US" sz="2939" dirty="0"/>
              <a:t>Reasoning Effort: Minimal, Low, Medium </a:t>
            </a:r>
          </a:p>
          <a:p>
            <a:pPr marL="479905" indent="-479905">
              <a:buFont typeface="Arial" panose="020B0604020202020204" pitchFamily="34" charset="0"/>
              <a:buChar char="•"/>
            </a:pPr>
            <a:r>
              <a:rPr lang="en-US" sz="2939" dirty="0"/>
              <a:t>Prompt: Prompt 1 will not ask the agent to provide a reason; Prompt 2 asks for reasoning</a:t>
            </a:r>
          </a:p>
          <a:p>
            <a:r>
              <a:rPr lang="en-US" sz="2939" b="1" dirty="0"/>
              <a:t>Evaluation:</a:t>
            </a:r>
          </a:p>
          <a:p>
            <a:pPr marL="479905" indent="-479905">
              <a:buFont typeface="Arial" panose="020B0604020202020204" pitchFamily="34" charset="0"/>
              <a:buChar char="•"/>
            </a:pPr>
            <a:r>
              <a:rPr lang="en-US" sz="2939" b="1" dirty="0"/>
              <a:t>Truthfulness:</a:t>
            </a:r>
            <a:r>
              <a:rPr lang="en-US" sz="2939" dirty="0"/>
              <a:t> How honest the LLM agent is. More truthful is better.</a:t>
            </a:r>
          </a:p>
          <a:p>
            <a:pPr marL="479905" indent="-479905">
              <a:buFont typeface="Arial" panose="020B0604020202020204" pitchFamily="34" charset="0"/>
              <a:buChar char="•"/>
            </a:pPr>
            <a:r>
              <a:rPr lang="en-US" sz="2939" b="1" dirty="0"/>
              <a:t>Regret: </a:t>
            </a:r>
            <a:r>
              <a:rPr lang="en-US" sz="2939" dirty="0"/>
              <a:t>The difference in expected profit for untruthful bids. If an untruthful bid returns a different menu option than what a truthful bid would, calculates the difference in utility (valuation * allocation – payment) for both menu options. Lower Regret is better.</a:t>
            </a:r>
          </a:p>
        </p:txBody>
      </p:sp>
      <p:pic>
        <p:nvPicPr>
          <p:cNvPr id="4" name="Picture 3">
            <a:extLst>
              <a:ext uri="{FF2B5EF4-FFF2-40B4-BE49-F238E27FC236}">
                <a16:creationId xmlns:a16="http://schemas.microsoft.com/office/drawing/2014/main" id="{E79434AB-7986-0EA8-B2F5-7826135D4EEE}"/>
              </a:ext>
            </a:extLst>
          </p:cNvPr>
          <p:cNvPicPr>
            <a:picLocks noChangeAspect="1"/>
          </p:cNvPicPr>
          <p:nvPr/>
        </p:nvPicPr>
        <p:blipFill>
          <a:blip r:embed="rId8"/>
          <a:stretch>
            <a:fillRect/>
          </a:stretch>
        </p:blipFill>
        <p:spPr>
          <a:xfrm>
            <a:off x="742822" y="26007938"/>
            <a:ext cx="8517398" cy="3113136"/>
          </a:xfrm>
          <a:prstGeom prst="rect">
            <a:avLst/>
          </a:prstGeom>
          <a:ln w="28575">
            <a:solidFill>
              <a:schemeClr val="bg2">
                <a:lumMod val="75000"/>
              </a:schemeClr>
            </a:solidFill>
          </a:ln>
        </p:spPr>
      </p:pic>
      <p:sp>
        <p:nvSpPr>
          <p:cNvPr id="26" name="Rectangle 25">
            <a:extLst>
              <a:ext uri="{FF2B5EF4-FFF2-40B4-BE49-F238E27FC236}">
                <a16:creationId xmlns:a16="http://schemas.microsoft.com/office/drawing/2014/main" id="{8CE3ABE0-9303-9A36-D029-FBFBE7A73C40}"/>
              </a:ext>
            </a:extLst>
          </p:cNvPr>
          <p:cNvSpPr/>
          <p:nvPr/>
        </p:nvSpPr>
        <p:spPr>
          <a:xfrm>
            <a:off x="702798" y="29462227"/>
            <a:ext cx="8557420" cy="872175"/>
          </a:xfrm>
          <a:prstGeom prst="rect">
            <a:avLst/>
          </a:prstGeom>
          <a:solidFill>
            <a:srgbClr val="2B29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38" b="1" dirty="0">
                <a:solidFill>
                  <a:schemeClr val="bg1"/>
                </a:solidFill>
              </a:rPr>
              <a:t>Conclusions</a:t>
            </a:r>
          </a:p>
        </p:txBody>
      </p:sp>
      <p:pic>
        <p:nvPicPr>
          <p:cNvPr id="30" name="Picture 29">
            <a:extLst>
              <a:ext uri="{FF2B5EF4-FFF2-40B4-BE49-F238E27FC236}">
                <a16:creationId xmlns:a16="http://schemas.microsoft.com/office/drawing/2014/main" id="{49C27EB7-DB3E-89EB-CE50-6AB2989F2E39}"/>
              </a:ext>
            </a:extLst>
          </p:cNvPr>
          <p:cNvPicPr>
            <a:picLocks noChangeAspect="1"/>
          </p:cNvPicPr>
          <p:nvPr/>
        </p:nvPicPr>
        <p:blipFill>
          <a:blip r:embed="rId9"/>
          <a:stretch>
            <a:fillRect/>
          </a:stretch>
        </p:blipFill>
        <p:spPr>
          <a:xfrm>
            <a:off x="722809" y="11312400"/>
            <a:ext cx="8517398" cy="1334350"/>
          </a:xfrm>
          <a:prstGeom prst="rect">
            <a:avLst/>
          </a:prstGeom>
          <a:ln w="28575">
            <a:solidFill>
              <a:schemeClr val="bg2">
                <a:lumMod val="75000"/>
              </a:schemeClr>
            </a:solidFill>
          </a:ln>
        </p:spPr>
      </p:pic>
      <p:sp>
        <p:nvSpPr>
          <p:cNvPr id="33" name="TextBox 32">
            <a:extLst>
              <a:ext uri="{FF2B5EF4-FFF2-40B4-BE49-F238E27FC236}">
                <a16:creationId xmlns:a16="http://schemas.microsoft.com/office/drawing/2014/main" id="{300CE4D2-E442-37AF-3569-CFE7BEFCDFCF}"/>
              </a:ext>
            </a:extLst>
          </p:cNvPr>
          <p:cNvSpPr txBox="1"/>
          <p:nvPr/>
        </p:nvSpPr>
        <p:spPr>
          <a:xfrm>
            <a:off x="20342066" y="22990537"/>
            <a:ext cx="9198288" cy="3710759"/>
          </a:xfrm>
          <a:prstGeom prst="rect">
            <a:avLst/>
          </a:prstGeom>
          <a:noFill/>
        </p:spPr>
        <p:txBody>
          <a:bodyPr wrap="square" rtlCol="0">
            <a:spAutoFit/>
          </a:bodyPr>
          <a:lstStyle/>
          <a:p>
            <a:r>
              <a:rPr lang="en-US" sz="2939" b="1" dirty="0"/>
              <a:t>Prompt 2 ( Above):</a:t>
            </a:r>
          </a:p>
          <a:p>
            <a:pPr marL="479905" indent="-479905">
              <a:buFont typeface="Arial" panose="020B0604020202020204" pitchFamily="34" charset="0"/>
              <a:buChar char="•"/>
            </a:pPr>
            <a:r>
              <a:rPr lang="en-US" sz="2939" dirty="0"/>
              <a:t>Significant improvements in performance by higher reasoning models</a:t>
            </a:r>
          </a:p>
          <a:p>
            <a:pPr marL="479905" indent="-479905">
              <a:buFont typeface="Arial" panose="020B0604020202020204" pitchFamily="34" charset="0"/>
              <a:buChar char="•"/>
            </a:pPr>
            <a:r>
              <a:rPr lang="en-US" sz="2939" dirty="0"/>
              <a:t>Prompt 2 is generally less truthful, LLM agents tend to bid untruthfully to increase chances of getting the optimal menu option (below).</a:t>
            </a:r>
          </a:p>
          <a:p>
            <a:pPr marL="479905" indent="-479905">
              <a:buFont typeface="Arial" panose="020B0604020202020204" pitchFamily="34" charset="0"/>
              <a:buChar char="•"/>
            </a:pPr>
            <a:r>
              <a:rPr lang="en-US" sz="2939" dirty="0"/>
              <a:t>For “minimal” reasoning, prompting for reasoning leads to significant regret increase (Rgt = -3+)</a:t>
            </a:r>
          </a:p>
        </p:txBody>
      </p:sp>
      <p:sp>
        <p:nvSpPr>
          <p:cNvPr id="34" name="TextBox 33">
            <a:extLst>
              <a:ext uri="{FF2B5EF4-FFF2-40B4-BE49-F238E27FC236}">
                <a16:creationId xmlns:a16="http://schemas.microsoft.com/office/drawing/2014/main" id="{91DE1782-D152-B711-E159-E02C0BB12B3C}"/>
              </a:ext>
            </a:extLst>
          </p:cNvPr>
          <p:cNvSpPr txBox="1"/>
          <p:nvPr/>
        </p:nvSpPr>
        <p:spPr>
          <a:xfrm>
            <a:off x="10600791" y="22990537"/>
            <a:ext cx="9073628" cy="4163063"/>
          </a:xfrm>
          <a:prstGeom prst="rect">
            <a:avLst/>
          </a:prstGeom>
          <a:noFill/>
        </p:spPr>
        <p:txBody>
          <a:bodyPr wrap="square" rtlCol="0">
            <a:spAutoFit/>
          </a:bodyPr>
          <a:lstStyle/>
          <a:p>
            <a:r>
              <a:rPr lang="en-US" sz="2939" b="1" dirty="0"/>
              <a:t>Prompt 1 (Above):</a:t>
            </a:r>
          </a:p>
          <a:p>
            <a:pPr marL="479905" indent="-479905">
              <a:buFont typeface="Arial" panose="020B0604020202020204" pitchFamily="34" charset="0"/>
              <a:buChar char="•"/>
            </a:pPr>
            <a:r>
              <a:rPr lang="en-US" sz="2939" dirty="0"/>
              <a:t>In same bidder: minimal reasoning model performs much worse</a:t>
            </a:r>
          </a:p>
          <a:p>
            <a:pPr marL="479905" indent="-479905">
              <a:buFont typeface="Arial" panose="020B0604020202020204" pitchFamily="34" charset="0"/>
              <a:buChar char="•"/>
            </a:pPr>
            <a:r>
              <a:rPr lang="en-US" sz="2939" dirty="0"/>
              <a:t>In different bidder auctions, the medium reasoning model perform worse</a:t>
            </a:r>
          </a:p>
          <a:p>
            <a:pPr marL="479905" indent="-479905">
              <a:buFont typeface="Arial" panose="020B0604020202020204" pitchFamily="34" charset="0"/>
              <a:buChar char="•"/>
            </a:pPr>
            <a:r>
              <a:rPr lang="en-US" sz="2939" dirty="0"/>
              <a:t>When not prompting for reason behind bids, “minimal” reasoning effort performs quite well; all regret is above -.25</a:t>
            </a:r>
          </a:p>
          <a:p>
            <a:pPr marL="479905" indent="-479905">
              <a:buFont typeface="Arial" panose="020B0604020202020204" pitchFamily="34" charset="0"/>
              <a:buChar char="•"/>
            </a:pPr>
            <a:endParaRPr lang="en-US" sz="2939" dirty="0"/>
          </a:p>
        </p:txBody>
      </p:sp>
      <p:pic>
        <p:nvPicPr>
          <p:cNvPr id="10" name="Picture 9">
            <a:extLst>
              <a:ext uri="{FF2B5EF4-FFF2-40B4-BE49-F238E27FC236}">
                <a16:creationId xmlns:a16="http://schemas.microsoft.com/office/drawing/2014/main" id="{F2F64766-F403-D7A4-8483-FAB496130F31}"/>
              </a:ext>
            </a:extLst>
          </p:cNvPr>
          <p:cNvPicPr>
            <a:picLocks noChangeAspect="1"/>
          </p:cNvPicPr>
          <p:nvPr/>
        </p:nvPicPr>
        <p:blipFill>
          <a:blip r:embed="rId10"/>
          <a:stretch>
            <a:fillRect/>
          </a:stretch>
        </p:blipFill>
        <p:spPr>
          <a:xfrm>
            <a:off x="10427474" y="32868086"/>
            <a:ext cx="9993550" cy="5746027"/>
          </a:xfrm>
          <a:prstGeom prst="rect">
            <a:avLst/>
          </a:prstGeom>
          <a:ln w="28575">
            <a:solidFill>
              <a:schemeClr val="bg2">
                <a:lumMod val="75000"/>
              </a:schemeClr>
            </a:solidFill>
          </a:ln>
        </p:spPr>
      </p:pic>
      <p:pic>
        <p:nvPicPr>
          <p:cNvPr id="15" name="Picture 14">
            <a:extLst>
              <a:ext uri="{FF2B5EF4-FFF2-40B4-BE49-F238E27FC236}">
                <a16:creationId xmlns:a16="http://schemas.microsoft.com/office/drawing/2014/main" id="{F3DF60CA-4B17-E109-DB57-36D14A84428B}"/>
              </a:ext>
            </a:extLst>
          </p:cNvPr>
          <p:cNvPicPr>
            <a:picLocks noChangeAspect="1"/>
          </p:cNvPicPr>
          <p:nvPr/>
        </p:nvPicPr>
        <p:blipFill>
          <a:blip r:embed="rId11"/>
          <a:stretch>
            <a:fillRect/>
          </a:stretch>
        </p:blipFill>
        <p:spPr>
          <a:xfrm>
            <a:off x="10426559" y="27075250"/>
            <a:ext cx="9102203" cy="5278602"/>
          </a:xfrm>
          <a:prstGeom prst="rect">
            <a:avLst/>
          </a:prstGeom>
          <a:ln w="28575">
            <a:solidFill>
              <a:schemeClr val="bg2">
                <a:lumMod val="75000"/>
              </a:schemeClr>
            </a:solidFill>
          </a:ln>
        </p:spPr>
      </p:pic>
      <p:pic>
        <p:nvPicPr>
          <p:cNvPr id="19" name="Picture 18">
            <a:extLst>
              <a:ext uri="{FF2B5EF4-FFF2-40B4-BE49-F238E27FC236}">
                <a16:creationId xmlns:a16="http://schemas.microsoft.com/office/drawing/2014/main" id="{C89DD071-597E-8CCD-84D7-9B285DF0933D}"/>
              </a:ext>
            </a:extLst>
          </p:cNvPr>
          <p:cNvPicPr>
            <a:picLocks noChangeAspect="1"/>
          </p:cNvPicPr>
          <p:nvPr/>
        </p:nvPicPr>
        <p:blipFill>
          <a:blip r:embed="rId12"/>
          <a:stretch>
            <a:fillRect/>
          </a:stretch>
        </p:blipFill>
        <p:spPr>
          <a:xfrm>
            <a:off x="20433359" y="27075250"/>
            <a:ext cx="9106996" cy="5278602"/>
          </a:xfrm>
          <a:prstGeom prst="rect">
            <a:avLst/>
          </a:prstGeom>
          <a:ln w="28575">
            <a:solidFill>
              <a:schemeClr val="bg2">
                <a:lumMod val="75000"/>
              </a:schemeClr>
            </a:solidFill>
          </a:ln>
        </p:spPr>
      </p:pic>
      <p:sp>
        <p:nvSpPr>
          <p:cNvPr id="20" name="TextBox 19">
            <a:extLst>
              <a:ext uri="{FF2B5EF4-FFF2-40B4-BE49-F238E27FC236}">
                <a16:creationId xmlns:a16="http://schemas.microsoft.com/office/drawing/2014/main" id="{FA20B3F7-4417-5BB9-39C9-06A68C4E4C77}"/>
              </a:ext>
            </a:extLst>
          </p:cNvPr>
          <p:cNvSpPr txBox="1"/>
          <p:nvPr/>
        </p:nvSpPr>
        <p:spPr>
          <a:xfrm>
            <a:off x="16600974" y="978995"/>
            <a:ext cx="11598426" cy="3581558"/>
          </a:xfrm>
          <a:prstGeom prst="rect">
            <a:avLst/>
          </a:prstGeom>
          <a:noFill/>
        </p:spPr>
        <p:txBody>
          <a:bodyPr wrap="square" rtlCol="0">
            <a:spAutoFit/>
          </a:bodyPr>
          <a:lstStyle/>
          <a:p>
            <a:r>
              <a:rPr lang="en-US" sz="5038" b="1" dirty="0">
                <a:solidFill>
                  <a:schemeClr val="bg1"/>
                </a:solidFill>
                <a:latin typeface="+mj-lt"/>
                <a:ea typeface="Sans Serif Collection" panose="020B0502040504020204" pitchFamily="34" charset="0"/>
                <a:cs typeface="Sans Serif Collection" panose="020B0502040504020204" pitchFamily="34" charset="0"/>
              </a:rPr>
              <a:t>Nelson Hoang Nguyen</a:t>
            </a:r>
          </a:p>
          <a:p>
            <a:r>
              <a:rPr lang="en-US" sz="5038" b="1" dirty="0">
                <a:solidFill>
                  <a:schemeClr val="bg1"/>
                </a:solidFill>
                <a:latin typeface="+mj-lt"/>
                <a:ea typeface="Sans Serif Collection" panose="020B0502040504020204" pitchFamily="34" charset="0"/>
                <a:cs typeface="Sans Serif Collection" panose="020B0502040504020204" pitchFamily="34" charset="0"/>
              </a:rPr>
              <a:t>University of California, Irvine</a:t>
            </a:r>
          </a:p>
          <a:p>
            <a:r>
              <a:rPr lang="en-US" sz="5038" b="1" dirty="0">
                <a:solidFill>
                  <a:schemeClr val="bg1"/>
                </a:solidFill>
                <a:latin typeface="+mj-lt"/>
                <a:ea typeface="Sans Serif Collection" panose="020B0502040504020204" pitchFamily="34" charset="0"/>
                <a:cs typeface="Sans Serif Collection" panose="020B0502040504020204" pitchFamily="34" charset="0"/>
              </a:rPr>
              <a:t>Professor Chuan Xiao, </a:t>
            </a:r>
            <a:r>
              <a:rPr lang="en-US" sz="5038" b="1" dirty="0">
                <a:solidFill>
                  <a:schemeClr val="bg1"/>
                </a:solidFill>
              </a:rPr>
              <a:t>Shuyuan Zheng</a:t>
            </a:r>
            <a:endParaRPr lang="en-US" sz="5038" b="1" dirty="0">
              <a:solidFill>
                <a:schemeClr val="bg1"/>
              </a:solidFill>
              <a:latin typeface="+mj-lt"/>
              <a:ea typeface="Sans Serif Collection" panose="020B0502040504020204" pitchFamily="34" charset="0"/>
              <a:cs typeface="Sans Serif Collection" panose="020B0502040504020204" pitchFamily="34" charset="0"/>
            </a:endParaRPr>
          </a:p>
          <a:p>
            <a:r>
              <a:rPr lang="en-US" sz="3780" b="1" dirty="0">
                <a:solidFill>
                  <a:schemeClr val="bg1"/>
                </a:solidFill>
                <a:latin typeface="+mj-lt"/>
                <a:ea typeface="Sans Serif Collection" panose="020B0502040504020204" pitchFamily="34" charset="0"/>
                <a:cs typeface="Sans Serif Collection" panose="020B0502040504020204" pitchFamily="34" charset="0"/>
              </a:rPr>
              <a:t>Onizuka Lab,  </a:t>
            </a:r>
            <a:r>
              <a:rPr lang="en-US" sz="3780" b="1" dirty="0">
                <a:solidFill>
                  <a:schemeClr val="bg1"/>
                </a:solidFill>
              </a:rPr>
              <a:t>Graduate School of Information Science and Technology</a:t>
            </a:r>
            <a:endParaRPr lang="en-US" sz="3780" b="1" dirty="0">
              <a:solidFill>
                <a:schemeClr val="bg1"/>
              </a:solidFill>
              <a:latin typeface="+mj-lt"/>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AE200E45-0343-7521-83CA-939DC8319A2F}"/>
              </a:ext>
            </a:extLst>
          </p:cNvPr>
          <p:cNvSpPr txBox="1"/>
          <p:nvPr/>
        </p:nvSpPr>
        <p:spPr>
          <a:xfrm>
            <a:off x="21028837" y="33044028"/>
            <a:ext cx="8511518" cy="5519973"/>
          </a:xfrm>
          <a:prstGeom prst="rect">
            <a:avLst/>
          </a:prstGeom>
          <a:noFill/>
        </p:spPr>
        <p:txBody>
          <a:bodyPr wrap="square" rtlCol="0">
            <a:spAutoFit/>
          </a:bodyPr>
          <a:lstStyle/>
          <a:p>
            <a:r>
              <a:rPr lang="en-US" sz="2939" b="1" dirty="0"/>
              <a:t>Other Results:</a:t>
            </a:r>
          </a:p>
          <a:p>
            <a:pPr marL="479905" indent="-479905">
              <a:buFont typeface="Arial" panose="020B0604020202020204" pitchFamily="34" charset="0"/>
              <a:buChar char="•"/>
            </a:pPr>
            <a:r>
              <a:rPr lang="en-US" sz="2939" dirty="0"/>
              <a:t>Note: All models below use Prompt 2</a:t>
            </a:r>
          </a:p>
          <a:p>
            <a:pPr marL="479905" indent="-479905">
              <a:buFont typeface="Arial" panose="020B0604020202020204" pitchFamily="34" charset="0"/>
              <a:buChar char="•"/>
            </a:pPr>
            <a:r>
              <a:rPr lang="en-US" sz="2939" dirty="0"/>
              <a:t>GPT-4o performs very poorly in auctions with history, w/ lowest recorded regret being -4</a:t>
            </a:r>
          </a:p>
          <a:p>
            <a:pPr marL="479905" indent="-479905">
              <a:buFont typeface="Arial" panose="020B0604020202020204" pitchFamily="34" charset="0"/>
              <a:buChar char="•"/>
            </a:pPr>
            <a:r>
              <a:rPr lang="en-US" sz="2939" dirty="0"/>
              <a:t>GPT-5.2 with “none” Reasoning Effort performs well in different bidder auctions; poorly in same bidder auctions (similar to 5-mini “minimal”)</a:t>
            </a:r>
          </a:p>
          <a:p>
            <a:pPr marL="479905" indent="-479905">
              <a:buFont typeface="Arial" panose="020B0604020202020204" pitchFamily="34" charset="0"/>
              <a:buChar char="•"/>
            </a:pPr>
            <a:r>
              <a:rPr lang="en-US" sz="2939" dirty="0"/>
              <a:t>GPT-5.2 “low” worse than GPT-5-mini “low”, but GPT-5.2 “medium” comparable to GPT-5-mini “medium” using Prompt 1.</a:t>
            </a:r>
          </a:p>
          <a:p>
            <a:pPr marL="479905" indent="-479905">
              <a:buFont typeface="Arial" panose="020B0604020202020204" pitchFamily="34" charset="0"/>
              <a:buChar char="•"/>
            </a:pPr>
            <a:r>
              <a:rPr lang="en-US" sz="2939" dirty="0"/>
              <a:t>GPT-5.2 is less truthful compared to equivalent reasoning model in GPT-5-mini</a:t>
            </a:r>
          </a:p>
        </p:txBody>
      </p:sp>
      <p:pic>
        <p:nvPicPr>
          <p:cNvPr id="5" name="Picture 4">
            <a:extLst>
              <a:ext uri="{FF2B5EF4-FFF2-40B4-BE49-F238E27FC236}">
                <a16:creationId xmlns:a16="http://schemas.microsoft.com/office/drawing/2014/main" id="{B5EC0EB2-B4FA-BF9A-C521-0B281EA5E422}"/>
              </a:ext>
            </a:extLst>
          </p:cNvPr>
          <p:cNvPicPr>
            <a:picLocks noChangeAspect="1"/>
          </p:cNvPicPr>
          <p:nvPr/>
        </p:nvPicPr>
        <p:blipFill>
          <a:blip r:embed="rId13"/>
          <a:stretch>
            <a:fillRect/>
          </a:stretch>
        </p:blipFill>
        <p:spPr>
          <a:xfrm>
            <a:off x="20411148" y="14318519"/>
            <a:ext cx="9129206" cy="8317512"/>
          </a:xfrm>
          <a:prstGeom prst="rect">
            <a:avLst/>
          </a:prstGeom>
          <a:ln w="28575">
            <a:solidFill>
              <a:schemeClr val="bg2">
                <a:lumMod val="75000"/>
              </a:schemeClr>
            </a:solidFill>
          </a:ln>
        </p:spPr>
      </p:pic>
      <p:pic>
        <p:nvPicPr>
          <p:cNvPr id="6" name="Picture 5">
            <a:extLst>
              <a:ext uri="{FF2B5EF4-FFF2-40B4-BE49-F238E27FC236}">
                <a16:creationId xmlns:a16="http://schemas.microsoft.com/office/drawing/2014/main" id="{75DA2CCA-771A-E3F7-00FD-041596C3203E}"/>
              </a:ext>
            </a:extLst>
          </p:cNvPr>
          <p:cNvPicPr>
            <a:picLocks noChangeAspect="1"/>
          </p:cNvPicPr>
          <p:nvPr/>
        </p:nvPicPr>
        <p:blipFill>
          <a:blip r:embed="rId14"/>
          <a:stretch>
            <a:fillRect/>
          </a:stretch>
        </p:blipFill>
        <p:spPr>
          <a:xfrm>
            <a:off x="10438133" y="14306454"/>
            <a:ext cx="9198288" cy="8317512"/>
          </a:xfrm>
          <a:prstGeom prst="rect">
            <a:avLst/>
          </a:prstGeom>
          <a:ln w="28575">
            <a:solidFill>
              <a:schemeClr val="bg2">
                <a:lumMod val="75000"/>
              </a:schemeClr>
            </a:solidFill>
          </a:ln>
        </p:spPr>
      </p:pic>
    </p:spTree>
    <p:extLst>
      <p:ext uri="{BB962C8B-B14F-4D97-AF65-F5344CB8AC3E}">
        <p14:creationId xmlns:p14="http://schemas.microsoft.com/office/powerpoint/2010/main" val="267588437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4398</TotalTime>
  <Words>967</Words>
  <Application>Microsoft Office PowerPoint</Application>
  <PresentationFormat>Custom</PresentationFormat>
  <Paragraphs>61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Nelson Hoang Nguyen</dc:creator>
  <cp:lastModifiedBy>Nelson Hoang Nguyen</cp:lastModifiedBy>
  <cp:revision>27</cp:revision>
  <dcterms:created xsi:type="dcterms:W3CDTF">2026-02-03T17:07:34Z</dcterms:created>
  <dcterms:modified xsi:type="dcterms:W3CDTF">2026-10-01T10:27:01Z</dcterms:modified>
</cp:coreProperties>
</file>